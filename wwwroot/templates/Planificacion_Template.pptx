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Libre Franklin Medium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RdE5LDpPAXkpmpw+bk1nYRQKz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196a0e7e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g3f196a0e7e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196a0e7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g3f196a0e7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 txBox="1"/>
          <p:nvPr/>
        </p:nvSpPr>
        <p:spPr>
          <a:xfrm>
            <a:off x="3779519" y="4014651"/>
            <a:ext cx="6879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&lt;Nombre Proyecto&gt;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1942"/>
            <a:ext cx="12199094" cy="684605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 txBox="1"/>
          <p:nvPr/>
        </p:nvSpPr>
        <p:spPr>
          <a:xfrm>
            <a:off x="1096346" y="1516751"/>
            <a:ext cx="3276800" cy="42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chemeClr val="lt1"/>
                </a:solidFill>
                <a:highlight>
                  <a:srgbClr val="F3980B"/>
                </a:highlight>
                <a:latin typeface="Calibri"/>
                <a:ea typeface="Calibri"/>
                <a:cs typeface="Calibri"/>
                <a:sym typeface="Calibri"/>
              </a:rPr>
              <a:t>DISEÑO GENERAL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f196a0e7e1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1942"/>
            <a:ext cx="12199097" cy="684605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f196a0e7e1_0_6"/>
          <p:cNvSpPr txBox="1"/>
          <p:nvPr/>
        </p:nvSpPr>
        <p:spPr>
          <a:xfrm>
            <a:off x="955040" y="1256242"/>
            <a:ext cx="5141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highlight>
                  <a:srgbClr val="F6A611"/>
                </a:highlight>
                <a:latin typeface="Calibri"/>
                <a:ea typeface="Calibri"/>
                <a:cs typeface="Calibri"/>
                <a:sym typeface="Calibri"/>
              </a:rPr>
              <a:t>AVANCES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196a0e7e1_0_6"/>
          <p:cNvSpPr txBox="1"/>
          <p:nvPr/>
        </p:nvSpPr>
        <p:spPr>
          <a:xfrm>
            <a:off x="955040" y="3244334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highlight>
                  <a:srgbClr val="F6A611"/>
                </a:highlight>
                <a:latin typeface="Calibri"/>
                <a:ea typeface="Calibri"/>
                <a:cs typeface="Calibri"/>
                <a:sym typeface="Calibri"/>
              </a:rPr>
              <a:t>Pendientes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196a0e7e1_0_6"/>
          <p:cNvSpPr txBox="1"/>
          <p:nvPr/>
        </p:nvSpPr>
        <p:spPr>
          <a:xfrm>
            <a:off x="6807200" y="3244334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highlight>
                  <a:srgbClr val="F6A611"/>
                </a:highlight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196a0e7e1_0_6"/>
          <p:cNvSpPr txBox="1"/>
          <p:nvPr/>
        </p:nvSpPr>
        <p:spPr>
          <a:xfrm>
            <a:off x="1137920" y="361057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highlight>
                  <a:srgbClr val="F6A611"/>
                </a:highlight>
                <a:latin typeface="Calibri"/>
                <a:ea typeface="Calibri"/>
                <a:cs typeface="Calibri"/>
                <a:sym typeface="Calibri"/>
              </a:rPr>
              <a:t>BCI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196a0e7e1_0_6"/>
          <p:cNvSpPr txBox="1"/>
          <p:nvPr/>
        </p:nvSpPr>
        <p:spPr>
          <a:xfrm>
            <a:off x="1137920" y="5066873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highlight>
                  <a:srgbClr val="F6A611"/>
                </a:highlight>
                <a:latin typeface="Calibri"/>
                <a:ea typeface="Calibri"/>
                <a:cs typeface="Calibri"/>
                <a:sym typeface="Calibri"/>
              </a:rPr>
              <a:t>Bit solución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g3f196a0e7e1_0_6"/>
          <p:cNvCxnSpPr/>
          <p:nvPr/>
        </p:nvCxnSpPr>
        <p:spPr>
          <a:xfrm>
            <a:off x="31605" y="3088640"/>
            <a:ext cx="11733600" cy="0"/>
          </a:xfrm>
          <a:prstGeom prst="straightConnector1">
            <a:avLst/>
          </a:prstGeom>
          <a:noFill/>
          <a:ln w="9525" cap="flat" cmpd="sng">
            <a:solidFill>
              <a:srgbClr val="364598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7" name="Google Shape;97;g3f196a0e7e1_0_6"/>
          <p:cNvCxnSpPr/>
          <p:nvPr/>
        </p:nvCxnSpPr>
        <p:spPr>
          <a:xfrm>
            <a:off x="6360160" y="3088640"/>
            <a:ext cx="0" cy="3566100"/>
          </a:xfrm>
          <a:prstGeom prst="straightConnector1">
            <a:avLst/>
          </a:prstGeom>
          <a:noFill/>
          <a:ln w="9525" cap="flat" cmpd="sng">
            <a:solidFill>
              <a:srgbClr val="344394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f196a0e7e1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1942"/>
            <a:ext cx="12199097" cy="684605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f196a0e7e1_0_0"/>
          <p:cNvSpPr txBox="1"/>
          <p:nvPr/>
        </p:nvSpPr>
        <p:spPr>
          <a:xfrm>
            <a:off x="955050" y="1829201"/>
            <a:ext cx="5141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highlight>
                  <a:srgbClr val="F6A611"/>
                </a:highlight>
                <a:latin typeface="Calibri"/>
                <a:ea typeface="Calibri"/>
                <a:cs typeface="Calibri"/>
                <a:sym typeface="Calibri"/>
              </a:rPr>
              <a:t>Problemas Detectados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f196a0e7e1_0_0"/>
          <p:cNvSpPr txBox="1"/>
          <p:nvPr/>
        </p:nvSpPr>
        <p:spPr>
          <a:xfrm>
            <a:off x="868782" y="2261198"/>
            <a:ext cx="10368300" cy="3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3850" marR="0" lvl="1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3850" marR="0" lvl="1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3850" marR="0" lvl="1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561559" y="838200"/>
            <a:ext cx="660400" cy="589504"/>
          </a:xfrm>
          <a:prstGeom prst="rect">
            <a:avLst/>
          </a:prstGeom>
          <a:solidFill>
            <a:srgbClr val="FFC000">
              <a:alpha val="45882"/>
            </a:srgbClr>
          </a:solidFill>
          <a:ln w="12700" cap="flat" cmpd="sng">
            <a:solidFill>
              <a:srgbClr val="31538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8692" y="1474491"/>
            <a:ext cx="11290300" cy="2516606"/>
          </a:xfrm>
          <a:prstGeom prst="rect">
            <a:avLst/>
          </a:prstGeom>
          <a:solidFill>
            <a:schemeClr val="accent5">
              <a:alpha val="1098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1417533" y="48069"/>
            <a:ext cx="0" cy="448522"/>
          </a:xfrm>
          <a:prstGeom prst="straightConnector1">
            <a:avLst/>
          </a:prstGeom>
          <a:noFill/>
          <a:ln w="9525" cap="flat" cmpd="sng">
            <a:solidFill>
              <a:srgbClr val="4F81BD">
                <a:alpha val="45882"/>
              </a:srgbClr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16" name="Google Shape;116;p4"/>
          <p:cNvCxnSpPr/>
          <p:nvPr/>
        </p:nvCxnSpPr>
        <p:spPr>
          <a:xfrm>
            <a:off x="6067512" y="60769"/>
            <a:ext cx="0" cy="435822"/>
          </a:xfrm>
          <a:prstGeom prst="straightConnector1">
            <a:avLst/>
          </a:prstGeom>
          <a:noFill/>
          <a:ln w="9525" cap="flat" cmpd="sng">
            <a:solidFill>
              <a:srgbClr val="4F81BD">
                <a:alpha val="45882"/>
              </a:srgbClr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17" name="Google Shape;117;p4"/>
          <p:cNvCxnSpPr/>
          <p:nvPr/>
        </p:nvCxnSpPr>
        <p:spPr>
          <a:xfrm>
            <a:off x="9752831" y="60769"/>
            <a:ext cx="0" cy="435822"/>
          </a:xfrm>
          <a:prstGeom prst="straightConnector1">
            <a:avLst/>
          </a:prstGeom>
          <a:noFill/>
          <a:ln w="9525" cap="flat" cmpd="sng">
            <a:solidFill>
              <a:srgbClr val="4F81BD">
                <a:alpha val="45882"/>
              </a:srgbClr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18" name="Google Shape;118;p4"/>
          <p:cNvSpPr/>
          <p:nvPr/>
        </p:nvSpPr>
        <p:spPr>
          <a:xfrm>
            <a:off x="1329657" y="496591"/>
            <a:ext cx="10515600" cy="2540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48692" y="1474490"/>
            <a:ext cx="660400" cy="2439766"/>
          </a:xfrm>
          <a:prstGeom prst="rect">
            <a:avLst/>
          </a:prstGeom>
          <a:solidFill>
            <a:schemeClr val="accent5">
              <a:alpha val="45882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329649" y="699798"/>
            <a:ext cx="8993100" cy="36600"/>
          </a:xfrm>
          <a:prstGeom prst="roundRect">
            <a:avLst>
              <a:gd name="adj" fmla="val 16667"/>
            </a:avLst>
          </a:prstGeom>
          <a:solidFill>
            <a:srgbClr val="FF0000">
              <a:alpha val="7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548692" y="1867830"/>
            <a:ext cx="660400" cy="55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203864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Desarrollo Corrección Base de Perdida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345951" y="200469"/>
            <a:ext cx="165100" cy="165100"/>
          </a:xfrm>
          <a:prstGeom prst="wave">
            <a:avLst>
              <a:gd name="adj1" fmla="val 12500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660562" y="31471"/>
            <a:ext cx="838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Inicio de Pry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1865522" y="921544"/>
            <a:ext cx="0" cy="6109338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0980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25" name="Google Shape;125;p4"/>
          <p:cNvSpPr/>
          <p:nvPr/>
        </p:nvSpPr>
        <p:spPr>
          <a:xfrm>
            <a:off x="548692" y="3981352"/>
            <a:ext cx="11290300" cy="707092"/>
          </a:xfrm>
          <a:prstGeom prst="rect">
            <a:avLst/>
          </a:prstGeom>
          <a:solidFill>
            <a:schemeClr val="accent6">
              <a:alpha val="1098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8692" y="3981352"/>
            <a:ext cx="660400" cy="707092"/>
          </a:xfrm>
          <a:prstGeom prst="rect">
            <a:avLst/>
          </a:prstGeom>
          <a:solidFill>
            <a:schemeClr val="accent6">
              <a:alpha val="45882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561559" y="4075820"/>
            <a:ext cx="660400" cy="55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203864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Pruebas UAT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283275" y="4072600"/>
            <a:ext cx="6423900" cy="374400"/>
          </a:xfrm>
          <a:prstGeom prst="roundRect">
            <a:avLst>
              <a:gd name="adj" fmla="val 16667"/>
            </a:avLst>
          </a:prstGeom>
          <a:solidFill>
            <a:srgbClr val="A8D0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Pruebas con Usuario Final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61559" y="4767764"/>
            <a:ext cx="11290300" cy="1325302"/>
          </a:xfrm>
          <a:prstGeom prst="rect">
            <a:avLst/>
          </a:prstGeom>
          <a:solidFill>
            <a:schemeClr val="accent3">
              <a:alpha val="1098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61559" y="4767764"/>
            <a:ext cx="660400" cy="1325302"/>
          </a:xfrm>
          <a:prstGeom prst="rect">
            <a:avLst/>
          </a:prstGeom>
          <a:solidFill>
            <a:schemeClr val="accent3">
              <a:alpha val="45882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54821" y="4806339"/>
            <a:ext cx="660400" cy="55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203864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Paso a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850670" y="4688450"/>
            <a:ext cx="460200" cy="567300"/>
          </a:xfrm>
          <a:prstGeom prst="roundRect">
            <a:avLst>
              <a:gd name="adj" fmla="val 16667"/>
            </a:avLst>
          </a:prstGeom>
          <a:solidFill>
            <a:srgbClr val="C9C9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Creación Jobs Cluster</a:t>
            </a:r>
            <a:endParaRPr sz="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48692" y="6186639"/>
            <a:ext cx="11290300" cy="520700"/>
          </a:xfrm>
          <a:prstGeom prst="rect">
            <a:avLst/>
          </a:prstGeom>
          <a:solidFill>
            <a:srgbClr val="F7CAAC">
              <a:alpha val="1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3300097" y="750594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0980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35" name="Google Shape;135;p4"/>
          <p:cNvSpPr txBox="1"/>
          <p:nvPr/>
        </p:nvSpPr>
        <p:spPr>
          <a:xfrm>
            <a:off x="1377132" y="475908"/>
            <a:ext cx="9201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48692" y="872189"/>
            <a:ext cx="11290200" cy="520800"/>
          </a:xfrm>
          <a:prstGeom prst="rect">
            <a:avLst/>
          </a:prstGeom>
          <a:solidFill>
            <a:schemeClr val="accent4">
              <a:alpha val="1098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561559" y="822550"/>
            <a:ext cx="660400" cy="55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203864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Validación Negocio BCI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667975" y="1043600"/>
            <a:ext cx="660300" cy="3081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5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r>
              <a:rPr lang="en-US" sz="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5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8331140" y="5258526"/>
            <a:ext cx="453000" cy="355800"/>
          </a:xfrm>
          <a:prstGeom prst="roundRect">
            <a:avLst>
              <a:gd name="adj" fmla="val 16667"/>
            </a:avLst>
          </a:prstGeom>
          <a:solidFill>
            <a:srgbClr val="C9C9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Doc. Pruebas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783977" y="5650691"/>
            <a:ext cx="453000" cy="355800"/>
          </a:xfrm>
          <a:prstGeom prst="roundRect">
            <a:avLst>
              <a:gd name="adj" fmla="val 16667"/>
            </a:avLst>
          </a:prstGeom>
          <a:solidFill>
            <a:srgbClr val="C9C9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Inicio PaP</a:t>
            </a:r>
            <a:endParaRPr sz="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438623" y="253725"/>
            <a:ext cx="6603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760305" y="188151"/>
            <a:ext cx="165000" cy="165000"/>
          </a:xfrm>
          <a:prstGeom prst="wave">
            <a:avLst>
              <a:gd name="adj1" fmla="val 12500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058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7758451" y="253720"/>
            <a:ext cx="6900" cy="5938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dash"/>
            <a:miter lim="8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058"/>
              </a:srgbClr>
            </a:outerShdw>
          </a:effectLst>
        </p:spPr>
      </p:cxnSp>
      <p:sp>
        <p:nvSpPr>
          <p:cNvPr id="144" name="Google Shape;144;p4"/>
          <p:cNvSpPr txBox="1"/>
          <p:nvPr/>
        </p:nvSpPr>
        <p:spPr>
          <a:xfrm>
            <a:off x="7993486" y="201032"/>
            <a:ext cx="4656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</a:t>
            </a: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 2</a:t>
            </a:r>
            <a:r>
              <a:rPr lang="en-US"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849053" y="5311456"/>
            <a:ext cx="460200" cy="881100"/>
          </a:xfrm>
          <a:prstGeom prst="roundRect">
            <a:avLst>
              <a:gd name="adj" fmla="val 16667"/>
            </a:avLst>
          </a:prstGeom>
          <a:solidFill>
            <a:srgbClr val="C9C9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Doc. de Proceso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4"/>
          <p:cNvCxnSpPr/>
          <p:nvPr/>
        </p:nvCxnSpPr>
        <p:spPr>
          <a:xfrm>
            <a:off x="2590347" y="1043369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0980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/>
          <p:nvPr/>
        </p:nvCxnSpPr>
        <p:spPr>
          <a:xfrm>
            <a:off x="4009794" y="921607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1372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8" name="Google Shape;148;p4"/>
          <p:cNvCxnSpPr/>
          <p:nvPr/>
        </p:nvCxnSpPr>
        <p:spPr>
          <a:xfrm>
            <a:off x="4725019" y="975457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1372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9" name="Google Shape;149;p4"/>
          <p:cNvCxnSpPr/>
          <p:nvPr/>
        </p:nvCxnSpPr>
        <p:spPr>
          <a:xfrm>
            <a:off x="5390969" y="1043382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1372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0" name="Google Shape;150;p4"/>
          <p:cNvCxnSpPr/>
          <p:nvPr/>
        </p:nvCxnSpPr>
        <p:spPr>
          <a:xfrm>
            <a:off x="6135519" y="1149807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1372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51" name="Google Shape;151;p4"/>
          <p:cNvSpPr txBox="1"/>
          <p:nvPr/>
        </p:nvSpPr>
        <p:spPr>
          <a:xfrm>
            <a:off x="1379869" y="766906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May 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6991161" y="1269582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1372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3" name="Google Shape;153;p4"/>
          <p:cNvCxnSpPr/>
          <p:nvPr/>
        </p:nvCxnSpPr>
        <p:spPr>
          <a:xfrm>
            <a:off x="7707132" y="921607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1372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4" name="Google Shape;154;p4"/>
          <p:cNvCxnSpPr/>
          <p:nvPr/>
        </p:nvCxnSpPr>
        <p:spPr>
          <a:xfrm>
            <a:off x="8539182" y="1043382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1372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55" name="Google Shape;155;p4"/>
          <p:cNvSpPr txBox="1"/>
          <p:nvPr/>
        </p:nvSpPr>
        <p:spPr>
          <a:xfrm>
            <a:off x="1966801" y="755291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r>
              <a:rPr lang="en-US"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4"/>
          <p:cNvCxnSpPr/>
          <p:nvPr/>
        </p:nvCxnSpPr>
        <p:spPr>
          <a:xfrm>
            <a:off x="10074182" y="975457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1372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7" name="Google Shape;157;p4"/>
          <p:cNvCxnSpPr/>
          <p:nvPr/>
        </p:nvCxnSpPr>
        <p:spPr>
          <a:xfrm>
            <a:off x="10057541" y="1005282"/>
            <a:ext cx="0" cy="6109200"/>
          </a:xfrm>
          <a:prstGeom prst="straightConnector1">
            <a:avLst/>
          </a:prstGeom>
          <a:noFill/>
          <a:ln w="9525" cap="flat" cmpd="sng">
            <a:solidFill>
              <a:schemeClr val="accent5">
                <a:alpha val="11372"/>
              </a:schemeClr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58" name="Google Shape;158;p4"/>
          <p:cNvSpPr txBox="1"/>
          <p:nvPr/>
        </p:nvSpPr>
        <p:spPr>
          <a:xfrm>
            <a:off x="2714529" y="766906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Jun 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7865637" y="31475"/>
            <a:ext cx="1488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Pry en produccion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2714529" y="497072"/>
            <a:ext cx="9201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Junio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418925" y="1782525"/>
            <a:ext cx="1171500" cy="308100"/>
          </a:xfrm>
          <a:prstGeom prst="roundRect">
            <a:avLst>
              <a:gd name="adj" fmla="val 16667"/>
            </a:avLst>
          </a:prstGeom>
          <a:solidFill>
            <a:srgbClr val="8DA9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3397144" y="766907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Jun 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4"/>
          <p:cNvCxnSpPr/>
          <p:nvPr/>
        </p:nvCxnSpPr>
        <p:spPr>
          <a:xfrm>
            <a:off x="1340412" y="529605"/>
            <a:ext cx="6900" cy="5938800"/>
          </a:xfrm>
          <a:prstGeom prst="straightConnector1">
            <a:avLst/>
          </a:prstGeom>
          <a:noFill/>
          <a:ln w="15875" cap="flat" cmpd="sng">
            <a:solidFill>
              <a:srgbClr val="548135"/>
            </a:solidFill>
            <a:prstDash val="dash"/>
            <a:miter lim="80"/>
            <a:headEnd type="none" w="sm" len="sm"/>
            <a:tailEnd type="none" w="sm" len="sm"/>
          </a:ln>
        </p:spPr>
      </p:cxnSp>
      <p:sp>
        <p:nvSpPr>
          <p:cNvPr id="164" name="Google Shape;164;p4"/>
          <p:cNvSpPr txBox="1"/>
          <p:nvPr/>
        </p:nvSpPr>
        <p:spPr>
          <a:xfrm>
            <a:off x="4075252" y="759957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Jun 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4819637" y="759957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Jun 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3355975" y="1782525"/>
            <a:ext cx="660300" cy="448500"/>
          </a:xfrm>
          <a:prstGeom prst="roundRect">
            <a:avLst>
              <a:gd name="adj" fmla="val 16667"/>
            </a:avLst>
          </a:prstGeom>
          <a:solidFill>
            <a:srgbClr val="8DA9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r>
              <a:rPr lang="en-US" sz="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4690550" y="1782525"/>
            <a:ext cx="700500" cy="448500"/>
          </a:xfrm>
          <a:prstGeom prst="roundRect">
            <a:avLst>
              <a:gd name="adj" fmla="val 16667"/>
            </a:avLst>
          </a:prstGeom>
          <a:solidFill>
            <a:srgbClr val="8DA9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r>
              <a:rPr lang="en-US" sz="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088375" y="1040125"/>
            <a:ext cx="636300" cy="3081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Revisión de Resultados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59597" y="1019650"/>
            <a:ext cx="660300" cy="3081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Revisión de Resultados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435977" y="746257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Jun 29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180362" y="746257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Jul</a:t>
            </a:r>
            <a:r>
              <a:rPr lang="en-US"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7041357" y="748556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Jul 13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7785742" y="748556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</a:t>
            </a: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8530142" y="746256"/>
            <a:ext cx="42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Ju</a:t>
            </a: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6164200" y="2313700"/>
            <a:ext cx="798300" cy="374400"/>
          </a:xfrm>
          <a:prstGeom prst="roundRect">
            <a:avLst>
              <a:gd name="adj" fmla="val 16667"/>
            </a:avLst>
          </a:prstGeom>
          <a:solidFill>
            <a:srgbClr val="8DA9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r>
              <a:rPr lang="en-US" sz="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7044150" y="2300325"/>
            <a:ext cx="700500" cy="374400"/>
          </a:xfrm>
          <a:prstGeom prst="roundRect">
            <a:avLst>
              <a:gd name="adj" fmla="val 16667"/>
            </a:avLst>
          </a:prstGeom>
          <a:solidFill>
            <a:srgbClr val="8DA9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r>
              <a:rPr lang="en-US" sz="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6200596" y="509247"/>
            <a:ext cx="9201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Julio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6444100" y="1581150"/>
            <a:ext cx="2701500" cy="520800"/>
          </a:xfrm>
          <a:prstGeom prst="wedgeRoundRectCallout">
            <a:avLst>
              <a:gd name="adj1" fmla="val -28845"/>
              <a:gd name="adj2" fmla="val 76363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Calibri"/>
                <a:ea typeface="Calibri"/>
                <a:cs typeface="Calibri"/>
                <a:sym typeface="Calibri"/>
              </a:rPr>
              <a:t>estos tiempos se pueden ver comprometidos ya que existen actividades que no dependen del equipo bit solución 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Panorámica</PresentationFormat>
  <Paragraphs>53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Libre Franklin Medium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hemerson cifuentes</cp:lastModifiedBy>
  <cp:revision>1</cp:revision>
  <dcterms:created xsi:type="dcterms:W3CDTF">2019-10-18T13:10:45Z</dcterms:created>
  <dcterms:modified xsi:type="dcterms:W3CDTF">2026-06-19T15:56:52Z</dcterms:modified>
</cp:coreProperties>
</file>